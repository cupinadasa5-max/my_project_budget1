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embeddedFontLst>
    <p:embeddedFont>
      <p:font typeface="Average" panose="020B0604020202020204" charset="0"/>
      <p:regular r:id="rId17"/>
    </p:embeddedFont>
    <p:embeddedFont>
      <p:font typeface="Oswald" panose="00000500000000000000" pitchFamily="2" charset="-52"/>
      <p:regular r:id="rId18"/>
      <p:bold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19" d="100"/>
          <a:sy n="119" d="100"/>
        </p:scale>
        <p:origin x="164" y="8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db13c127e6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db13c127e6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db13c127e6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db13c127e6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db13c127e6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db13c127e6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db13c127e6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db13c127e6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db13c127e6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db13c127e6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db13c127e6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db13c127e6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db13c127e6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db13c127e6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db13c127e6_0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db13c127e6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db13c127e6_0_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db13c127e6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db13c127e6_0_1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db13c127e6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db13c127e6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db13c127e6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db13c127e6_0_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db13c127e6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db13c127e6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db13c127e6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7996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1375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2"/>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6" name="Google Shape;16;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62271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8" name="Google Shape;38;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2" name="Google Shape;42;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3" name="Google Shape;43;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5" name="Google Shape;45;p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a:endParaRPr/>
          </a:p>
        </p:txBody>
      </p:sp>
      <p:sp>
        <p:nvSpPr>
          <p:cNvPr id="48" name="Google Shape;48;p1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255275"/>
            <a:ext cx="8520600" cy="18906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marL="914400" lvl="1"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marL="1371600" lvl="2"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marL="1828800" lvl="3"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marL="2286000" lvl="4"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marL="2743200" lvl="5"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marL="3200400" lvl="6"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marL="3657600" lvl="7"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marL="4114800" lvl="8"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a:endParaRPr/>
          </a:p>
        </p:txBody>
      </p:sp>
      <p:sp>
        <p:nvSpPr>
          <p:cNvPr id="8" name="Google Shape;8;p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ru"/>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ru"/>
              <a:t>Мой бюджет: учет доходов и расходов</a:t>
            </a:r>
            <a:endParaRPr/>
          </a:p>
        </p:txBody>
      </p:sp>
      <p:sp>
        <p:nvSpPr>
          <p:cNvPr id="60" name="Google Shape;60;p13"/>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rmAutofit fontScale="77500" lnSpcReduction="20000"/>
          </a:bodyPr>
          <a:lstStyle/>
          <a:p>
            <a:pPr marL="0" lvl="0" indent="0" algn="ctr" rtl="0">
              <a:spcBef>
                <a:spcPts val="0"/>
              </a:spcBef>
              <a:spcAft>
                <a:spcPts val="0"/>
              </a:spcAft>
              <a:buNone/>
            </a:pPr>
            <a:r>
              <a:rPr lang="ru"/>
              <a:t>Выполняли: Платаева Ярослава</a:t>
            </a:r>
            <a:endParaRPr/>
          </a:p>
          <a:p>
            <a:pPr marL="0" lvl="0" indent="0" algn="ctr" rtl="0">
              <a:spcBef>
                <a:spcPts val="0"/>
              </a:spcBef>
              <a:spcAft>
                <a:spcPts val="0"/>
              </a:spcAft>
              <a:buNone/>
            </a:pPr>
            <a:r>
              <a:rPr lang="ru"/>
              <a:t>Попова Алена</a:t>
            </a:r>
            <a:endParaRPr/>
          </a:p>
          <a:p>
            <a:pPr marL="0" lvl="0" indent="0" algn="ctr" rtl="0">
              <a:spcBef>
                <a:spcPts val="0"/>
              </a:spcBef>
              <a:spcAft>
                <a:spcPts val="0"/>
              </a:spcAft>
              <a:buNone/>
            </a:pPr>
            <a:r>
              <a:rPr lang="ru"/>
              <a:t>Чупина Дарья</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ru"/>
              <a:t>Название проекта</a:t>
            </a:r>
            <a:endParaRPr/>
          </a:p>
        </p:txBody>
      </p:sp>
      <p:sp>
        <p:nvSpPr>
          <p:cNvPr id="66" name="Google Shape;66;p14"/>
          <p:cNvSpPr txBox="1">
            <a:spLocks noGrp="1"/>
          </p:cNvSpPr>
          <p:nvPr>
            <p:ph type="body" idx="1"/>
          </p:nvPr>
        </p:nvSpPr>
        <p:spPr>
          <a:xfrm>
            <a:off x="311700" y="1152475"/>
            <a:ext cx="8520600" cy="3416400"/>
          </a:xfrm>
          <a:prstGeom prst="rect">
            <a:avLst/>
          </a:prstGeom>
          <a:solidFill>
            <a:schemeClr val="dk1"/>
          </a:solidFill>
        </p:spPr>
        <p:txBody>
          <a:bodyPr spcFirstLastPara="1" wrap="square" lIns="91425" tIns="91425" rIns="91425" bIns="91425" anchor="t" anchorCtr="0">
            <a:normAutofit/>
          </a:bodyPr>
          <a:lstStyle/>
          <a:p>
            <a:pPr marL="0" lvl="0" indent="0" algn="l" rtl="0">
              <a:spcBef>
                <a:spcPts val="0"/>
              </a:spcBef>
              <a:spcAft>
                <a:spcPts val="1200"/>
              </a:spcAft>
              <a:buNone/>
            </a:pPr>
            <a:r>
              <a:rPr lang="ru" sz="1700">
                <a:solidFill>
                  <a:srgbClr val="000000"/>
                </a:solidFill>
                <a:latin typeface="Oswald"/>
                <a:ea typeface="Oswald"/>
                <a:cs typeface="Oswald"/>
                <a:sym typeface="Oswald"/>
              </a:rPr>
              <a:t>Мой бюджет — настольное приложение для учёта личных доходов и расходов. Программа позволяет добавлять операции с указанием суммы и категории, отмечать тип транзакции.</a:t>
            </a:r>
            <a:endParaRPr sz="1900">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ru"/>
              <a:t>Цель и актуальность</a:t>
            </a:r>
            <a:endParaRPr/>
          </a:p>
        </p:txBody>
      </p:sp>
      <p:sp>
        <p:nvSpPr>
          <p:cNvPr id="72" name="Google Shape;72;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34328" algn="l" rtl="0">
              <a:spcBef>
                <a:spcPts val="0"/>
              </a:spcBef>
              <a:spcAft>
                <a:spcPts val="0"/>
              </a:spcAft>
              <a:buSzPct val="100000"/>
              <a:buChar char="●"/>
            </a:pPr>
            <a:r>
              <a:rPr lang="ru" dirty="0"/>
              <a:t>Цель: разработать десктопное приложение на с графическим интерфейсом для учёта личных доходов и расходов, которое позволяет пользователю быстро добавлять операции, видеть текущий баланс и историю транзакций.</a:t>
            </a:r>
            <a:br>
              <a:rPr lang="ru" dirty="0"/>
            </a:br>
            <a:endParaRPr dirty="0"/>
          </a:p>
          <a:p>
            <a:pPr marL="457200" lvl="0" indent="-334328" algn="l" rtl="0">
              <a:spcBef>
                <a:spcPts val="0"/>
              </a:spcBef>
              <a:spcAft>
                <a:spcPts val="0"/>
              </a:spcAft>
              <a:buSzPct val="100000"/>
              <a:buChar char="●"/>
            </a:pPr>
            <a:r>
              <a:rPr lang="ru" dirty="0"/>
              <a:t>Актуальность: В настоящее время наблюдается рост интереса к финансовой грамотности и личному финансовому планированию. При этом многие люди не используют сложные бухгалтерские программы, но нуждаются в простом инструменте для контроля бюджета. Существующие мобильные приложения часто перегружены рекламой или требуют регистрации, поэтому простое десктопное решение без лишних функций остается востребованным. Кроме того, десктопное приложение обеспечивает безопасность за счет хранения данных локально.</a:t>
            </a:r>
            <a:endParaRPr dirty="0"/>
          </a:p>
          <a:p>
            <a:pPr marL="0" lvl="0" indent="0" algn="l" rtl="0">
              <a:spcBef>
                <a:spcPts val="1200"/>
              </a:spcBef>
              <a:spcAft>
                <a:spcPts val="1200"/>
              </a:spcAft>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ru"/>
              <a:t>Задачи проекта</a:t>
            </a:r>
            <a:endParaRPr/>
          </a:p>
        </p:txBody>
      </p:sp>
      <p:sp>
        <p:nvSpPr>
          <p:cNvPr id="78" name="Google Shape;78;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a:t>1.	Спроектировать внутреннюю архитектуру проекта.</a:t>
            </a:r>
            <a:endParaRPr/>
          </a:p>
          <a:p>
            <a:pPr marL="0" lvl="0" indent="0" algn="l" rtl="0">
              <a:spcBef>
                <a:spcPts val="1200"/>
              </a:spcBef>
              <a:spcAft>
                <a:spcPts val="0"/>
              </a:spcAft>
              <a:buNone/>
            </a:pPr>
            <a:r>
              <a:rPr lang="ru"/>
              <a:t>2.	Спроектировать графический интерфейс.</a:t>
            </a:r>
            <a:endParaRPr/>
          </a:p>
          <a:p>
            <a:pPr marL="0" lvl="0" indent="0" algn="l" rtl="0">
              <a:spcBef>
                <a:spcPts val="1200"/>
              </a:spcBef>
              <a:spcAft>
                <a:spcPts val="0"/>
              </a:spcAft>
              <a:buNone/>
            </a:pPr>
            <a:r>
              <a:rPr lang="ru"/>
              <a:t>3.	Организовать хранение данных.</a:t>
            </a:r>
            <a:endParaRPr/>
          </a:p>
          <a:p>
            <a:pPr marL="0" lvl="0" indent="0" algn="l" rtl="0">
              <a:spcBef>
                <a:spcPts val="1200"/>
              </a:spcBef>
              <a:spcAft>
                <a:spcPts val="0"/>
              </a:spcAft>
              <a:buNone/>
            </a:pPr>
            <a:r>
              <a:rPr lang="ru"/>
              <a:t>4.	Реализовать функционал добавления доходов и расходов с выбором категории.</a:t>
            </a:r>
            <a:endParaRPr/>
          </a:p>
          <a:p>
            <a:pPr marL="0" lvl="0" indent="0" algn="l" rtl="0">
              <a:spcBef>
                <a:spcPts val="1200"/>
              </a:spcBef>
              <a:spcAft>
                <a:spcPts val="0"/>
              </a:spcAft>
              <a:buNone/>
            </a:pPr>
            <a:r>
              <a:rPr lang="ru"/>
              <a:t>5.	Реализовать автоматический расчет текущего баланса после каждой операции.</a:t>
            </a:r>
            <a:endParaRPr/>
          </a:p>
          <a:p>
            <a:pPr marL="0" lvl="0" indent="0" algn="l" rtl="0">
              <a:spcBef>
                <a:spcPts val="1200"/>
              </a:spcBef>
              <a:spcAft>
                <a:spcPts val="1200"/>
              </a:spcAft>
              <a:buNone/>
            </a:pPr>
            <a:r>
              <a:rPr lang="ru"/>
              <a:t>6.	Обеспечить отображение истории операций в табличном представлении.</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ru"/>
              <a:t>Функциональные требования</a:t>
            </a:r>
            <a:endParaRPr/>
          </a:p>
        </p:txBody>
      </p:sp>
      <p:sp>
        <p:nvSpPr>
          <p:cNvPr id="84" name="Google Shape;84;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SzPts val="688"/>
              <a:buNone/>
            </a:pPr>
            <a:r>
              <a:rPr lang="ru" sz="1225" dirty="0"/>
              <a:t>FR1 - Приложение должно предоставлять поле для ввода суммы.</a:t>
            </a:r>
            <a:endParaRPr sz="1225" dirty="0"/>
          </a:p>
          <a:p>
            <a:pPr marL="0" lvl="0" indent="0" algn="l" rtl="0">
              <a:lnSpc>
                <a:spcPct val="105000"/>
              </a:lnSpc>
              <a:spcBef>
                <a:spcPts val="1200"/>
              </a:spcBef>
              <a:spcAft>
                <a:spcPts val="0"/>
              </a:spcAft>
              <a:buSzPts val="688"/>
              <a:buNone/>
            </a:pPr>
            <a:r>
              <a:rPr lang="ru" sz="1225" dirty="0"/>
              <a:t>FR2 - Приложение должно предоставлять поле для ввода комментария.</a:t>
            </a:r>
            <a:endParaRPr sz="1225" dirty="0"/>
          </a:p>
          <a:p>
            <a:pPr marL="0" lvl="0" indent="0" algn="l" rtl="0">
              <a:lnSpc>
                <a:spcPct val="105000"/>
              </a:lnSpc>
              <a:spcBef>
                <a:spcPts val="1200"/>
              </a:spcBef>
              <a:spcAft>
                <a:spcPts val="0"/>
              </a:spcAft>
              <a:buSzPts val="688"/>
              <a:buNone/>
            </a:pPr>
            <a:r>
              <a:rPr lang="ru" sz="1225" dirty="0"/>
              <a:t>FR3 - Пользователь должен иметь возможность выбрать одну из  6 категорий («Еда», «Транспорт», «Одежда», «Накопления», «Зарплата», «Прочее»). </a:t>
            </a:r>
            <a:endParaRPr sz="1225" dirty="0"/>
          </a:p>
          <a:p>
            <a:pPr marL="0" lvl="0" indent="0" algn="l" rtl="0">
              <a:lnSpc>
                <a:spcPct val="105000"/>
              </a:lnSpc>
              <a:spcBef>
                <a:spcPts val="1200"/>
              </a:spcBef>
              <a:spcAft>
                <a:spcPts val="0"/>
              </a:spcAft>
              <a:buSzPts val="688"/>
              <a:buNone/>
            </a:pPr>
            <a:r>
              <a:rPr lang="ru" sz="1225" dirty="0"/>
              <a:t>FR4 - Должны быть отдельные кнопки: «Добавить доход» и «Добавить расход».</a:t>
            </a:r>
            <a:endParaRPr sz="1225" dirty="0"/>
          </a:p>
          <a:p>
            <a:pPr marL="0" lvl="0" indent="0" algn="l" rtl="0">
              <a:lnSpc>
                <a:spcPct val="105000"/>
              </a:lnSpc>
              <a:spcBef>
                <a:spcPts val="1200"/>
              </a:spcBef>
              <a:spcAft>
                <a:spcPts val="0"/>
              </a:spcAft>
              <a:buSzPts val="688"/>
              <a:buNone/>
            </a:pPr>
            <a:r>
              <a:rPr lang="ru" sz="1225" dirty="0"/>
              <a:t>FR5 - </a:t>
            </a:r>
            <a:r>
              <a:rPr lang="ru-RU" sz="1200" dirty="0">
                <a:effectLst/>
                <a:latin typeface="Times New Roman" panose="02020603050405020304" pitchFamily="18" charset="0"/>
                <a:ea typeface="Times New Roman" panose="02020603050405020304" pitchFamily="18" charset="0"/>
              </a:rPr>
              <a:t>При нажатии на «Добавить доход» сумма прибавляется к балансу, выводит сообщение с текстом</a:t>
            </a:r>
            <a:endParaRPr sz="1225" dirty="0"/>
          </a:p>
          <a:p>
            <a:pPr marL="0" lvl="0" indent="0" algn="l" rtl="0">
              <a:lnSpc>
                <a:spcPct val="105000"/>
              </a:lnSpc>
              <a:spcBef>
                <a:spcPts val="1200"/>
              </a:spcBef>
              <a:spcAft>
                <a:spcPts val="0"/>
              </a:spcAft>
              <a:buSzPts val="688"/>
              <a:buNone/>
            </a:pPr>
            <a:r>
              <a:rPr lang="ru" sz="1225" dirty="0"/>
              <a:t>FR6 - </a:t>
            </a:r>
            <a:r>
              <a:rPr lang="ru-RU" sz="1200" dirty="0">
                <a:effectLst/>
                <a:latin typeface="Times New Roman" panose="02020603050405020304" pitchFamily="18" charset="0"/>
                <a:ea typeface="Times New Roman" panose="02020603050405020304" pitchFamily="18" charset="0"/>
              </a:rPr>
              <a:t>При нажатии на «Добавить расход» сумма вычитается из баланса, выводит сообщение с текстом и операция сохраняется в истории с типом «Расход».</a:t>
            </a:r>
            <a:endParaRPr sz="1225" dirty="0"/>
          </a:p>
          <a:p>
            <a:pPr marL="0" lvl="0" indent="0" algn="l" rtl="0">
              <a:lnSpc>
                <a:spcPct val="105000"/>
              </a:lnSpc>
              <a:spcBef>
                <a:spcPts val="1200"/>
              </a:spcBef>
              <a:spcAft>
                <a:spcPts val="0"/>
              </a:spcAft>
              <a:buSzPts val="688"/>
              <a:buNone/>
            </a:pPr>
            <a:r>
              <a:rPr lang="ru" sz="1225" dirty="0"/>
              <a:t>FR7 - Приложение всегда отображает текущий баланс, в верхней части окна.</a:t>
            </a:r>
            <a:endParaRPr sz="1225" dirty="0"/>
          </a:p>
          <a:p>
            <a:pPr marL="0" lvl="0" indent="0" algn="l" rtl="0">
              <a:lnSpc>
                <a:spcPct val="105000"/>
              </a:lnSpc>
              <a:spcBef>
                <a:spcPts val="1200"/>
              </a:spcBef>
              <a:spcAft>
                <a:spcPts val="0"/>
              </a:spcAft>
              <a:buSzPts val="688"/>
              <a:buNone/>
            </a:pPr>
            <a:r>
              <a:rPr lang="ru" sz="1225" dirty="0"/>
              <a:t>FR8 - История операций показывается в таблице с колонками: Тип (Доход/Расход), Категория, Сумма, Комментарий.</a:t>
            </a:r>
            <a:endParaRPr sz="1225" dirty="0"/>
          </a:p>
          <a:p>
            <a:pPr marL="0" lvl="0" indent="0" algn="l" rtl="0">
              <a:lnSpc>
                <a:spcPct val="105000"/>
              </a:lnSpc>
              <a:spcBef>
                <a:spcPts val="1200"/>
              </a:spcBef>
              <a:spcAft>
                <a:spcPts val="1200"/>
              </a:spcAft>
              <a:buSzPts val="688"/>
              <a:buNone/>
            </a:pPr>
            <a:r>
              <a:rPr lang="ru" sz="1225" dirty="0"/>
              <a:t>FR9 - При добавлении новой операции таблица истории обновляется автоматически.</a:t>
            </a:r>
            <a:endParaRPr sz="12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ru"/>
              <a:t>Нефункциональные требования</a:t>
            </a:r>
            <a:endParaRPr/>
          </a:p>
        </p:txBody>
      </p:sp>
      <p:sp>
        <p:nvSpPr>
          <p:cNvPr id="90" name="Google Shape;90;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dirty="0"/>
              <a:t>NFR1 - Добавление операции и обновление интерфейса должны занимать не более 0,5 секунды.</a:t>
            </a:r>
            <a:endParaRPr dirty="0"/>
          </a:p>
          <a:p>
            <a:pPr marL="0" lvl="0" indent="0" algn="l" rtl="0">
              <a:spcBef>
                <a:spcPts val="1200"/>
              </a:spcBef>
              <a:spcAft>
                <a:spcPts val="0"/>
              </a:spcAft>
              <a:buNone/>
            </a:pPr>
            <a:r>
              <a:rPr lang="ru" dirty="0"/>
              <a:t>NFR2 - Программа должна корректно обрабатывать невалидные данные</a:t>
            </a:r>
            <a:endParaRPr dirty="0"/>
          </a:p>
          <a:p>
            <a:pPr marL="0" lvl="0" indent="0" algn="l" rtl="0">
              <a:spcBef>
                <a:spcPts val="1200"/>
              </a:spcBef>
              <a:spcAft>
                <a:spcPts val="0"/>
              </a:spcAft>
              <a:buNone/>
            </a:pPr>
            <a:r>
              <a:rPr lang="ru" dirty="0"/>
              <a:t>NFR3 - Все основные элементы управления должны располагаться в пределах видимой области окна при разрешении экрана не менее 800×600 пикселей</a:t>
            </a:r>
            <a:endParaRPr dirty="0"/>
          </a:p>
          <a:p>
            <a:pPr marL="0" lvl="0" indent="0" algn="l" rtl="0">
              <a:spcBef>
                <a:spcPts val="1200"/>
              </a:spcBef>
              <a:spcAft>
                <a:spcPts val="0"/>
              </a:spcAft>
              <a:buNone/>
            </a:pPr>
            <a:r>
              <a:rPr lang="ru" dirty="0"/>
              <a:t>NFR4 - Приложение должно работать на Windows.</a:t>
            </a:r>
            <a:endParaRPr dirty="0"/>
          </a:p>
          <a:p>
            <a:pPr marL="0" lvl="0" indent="0" algn="l" rtl="0">
              <a:spcBef>
                <a:spcPts val="1200"/>
              </a:spcBef>
              <a:spcAft>
                <a:spcPts val="0"/>
              </a:spcAft>
              <a:buNone/>
            </a:pPr>
            <a:r>
              <a:rPr lang="ru" dirty="0"/>
              <a:t>NFR5 - Не требуется доступ в интернет.</a:t>
            </a:r>
            <a:endParaRPr dirty="0"/>
          </a:p>
          <a:p>
            <a:pPr marL="0" lvl="0" indent="0" algn="l" rtl="0">
              <a:spcBef>
                <a:spcPts val="1200"/>
              </a:spcBef>
              <a:spcAft>
                <a:spcPts val="1200"/>
              </a:spcAft>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ru"/>
              <a:t>Используемые технологии</a:t>
            </a:r>
            <a:endParaRPr/>
          </a:p>
        </p:txBody>
      </p:sp>
      <p:sp>
        <p:nvSpPr>
          <p:cNvPr id="96" name="Google Shape;96;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dirty="0"/>
              <a:t>Python 3.10+ — основной язык разработки.</a:t>
            </a:r>
            <a:endParaRPr dirty="0"/>
          </a:p>
          <a:p>
            <a:pPr marL="0" lvl="0" indent="0" algn="l" rtl="0">
              <a:spcBef>
                <a:spcPts val="1200"/>
              </a:spcBef>
              <a:spcAft>
                <a:spcPts val="0"/>
              </a:spcAft>
              <a:buNone/>
            </a:pPr>
            <a:endParaRPr dirty="0"/>
          </a:p>
          <a:p>
            <a:pPr marL="0" lvl="0" indent="0" algn="l" rtl="0">
              <a:spcBef>
                <a:spcPts val="1200"/>
              </a:spcBef>
              <a:spcAft>
                <a:spcPts val="0"/>
              </a:spcAft>
              <a:buNone/>
            </a:pPr>
            <a:r>
              <a:rPr lang="ru" dirty="0"/>
              <a:t>Tkinter — библиотека для построения графического интерфейса.</a:t>
            </a:r>
            <a:endParaRPr dirty="0"/>
          </a:p>
          <a:p>
            <a:pPr marL="0" lvl="0" indent="0" algn="l" rtl="0">
              <a:spcBef>
                <a:spcPts val="1200"/>
              </a:spcBef>
              <a:spcAft>
                <a:spcPts val="0"/>
              </a:spcAft>
              <a:buNone/>
            </a:pPr>
            <a:r>
              <a:rPr lang="ru" dirty="0"/>
              <a:t>Treeview (из ttk) — компонент для отображения таблицы с историей операций.</a:t>
            </a:r>
            <a:endParaRPr dirty="0"/>
          </a:p>
          <a:p>
            <a:pPr marL="0" lvl="0" indent="0" algn="l" rtl="0">
              <a:spcBef>
                <a:spcPts val="1200"/>
              </a:spcBef>
              <a:spcAft>
                <a:spcPts val="0"/>
              </a:spcAft>
              <a:buNone/>
            </a:pPr>
            <a:endParaRPr dirty="0"/>
          </a:p>
          <a:p>
            <a:pPr marL="0" lvl="0" indent="0" algn="l" rtl="0">
              <a:spcBef>
                <a:spcPts val="1200"/>
              </a:spcBef>
              <a:spcAft>
                <a:spcPts val="1200"/>
              </a:spcAft>
              <a:buNone/>
            </a:pPr>
            <a:r>
              <a:rPr lang="ru" dirty="0"/>
              <a:t>SQLite — встроенная база данных</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ru"/>
              <a:t>Перспективы развития</a:t>
            </a:r>
            <a:endParaRPr/>
          </a:p>
        </p:txBody>
      </p:sp>
      <p:sp>
        <p:nvSpPr>
          <p:cNvPr id="102" name="Google Shape;102;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a:t>Расширение аналитики — добавление графиков и диаграмм для визуального анализа структуры доходов и расходов по категориям.</a:t>
            </a:r>
            <a:endParaRPr/>
          </a:p>
          <a:p>
            <a:pPr marL="0" lvl="0" indent="0" algn="l" rtl="0">
              <a:spcBef>
                <a:spcPts val="1200"/>
              </a:spcBef>
              <a:spcAft>
                <a:spcPts val="0"/>
              </a:spcAft>
              <a:buNone/>
            </a:pPr>
            <a:endParaRPr/>
          </a:p>
          <a:p>
            <a:pPr marL="0" lvl="0" indent="0" algn="l" rtl="0">
              <a:spcBef>
                <a:spcPts val="1200"/>
              </a:spcBef>
              <a:spcAft>
                <a:spcPts val="0"/>
              </a:spcAft>
              <a:buNone/>
            </a:pPr>
            <a:r>
              <a:rPr lang="ru"/>
              <a:t>Фильтрация и поиск — реализация возможности фильтрации операций по категориям, датам и типу транзакций, а также поиска по комментариям.</a:t>
            </a:r>
            <a:endParaRPr/>
          </a:p>
          <a:p>
            <a:pPr marL="0" lvl="0" indent="0" algn="l" rtl="0">
              <a:spcBef>
                <a:spcPts val="1200"/>
              </a:spcBef>
              <a:spcAft>
                <a:spcPts val="0"/>
              </a:spcAft>
              <a:buNone/>
            </a:pPr>
            <a:endParaRPr/>
          </a:p>
          <a:p>
            <a:pPr marL="0" lvl="0" indent="0" algn="l" rtl="0">
              <a:spcBef>
                <a:spcPts val="1200"/>
              </a:spcBef>
              <a:spcAft>
                <a:spcPts val="1200"/>
              </a:spcAft>
              <a:buNone/>
            </a:pPr>
            <a:r>
              <a:rPr lang="ru"/>
              <a:t>Экспорт данных — добавление функции выгрузки истории операций в форматы CSV, Excel или PDF для дальнейшего анализа в других программах.</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ru"/>
              <a:t>Тестирование</a:t>
            </a:r>
            <a:endParaRPr/>
          </a:p>
        </p:txBody>
      </p:sp>
      <p:sp>
        <p:nvSpPr>
          <p:cNvPr id="108" name="Google Shape;108;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r>
              <a:rPr lang="ru"/>
              <a:t>При запуске приложения открывается окно с заголовком «Мой бюджет — Учет доходов и расходов». В верхней части отображается текущий баланс (0.00 ₽ на зеленом фоне). Присутствуют поля для ввода суммы и комментария, выпадающий список из 6 категорий, кнопки добавления дохода и расхода, а также таблица истории операций с колонками: Тип, Категория, Сумма, Комментарий, Дата. Все элементы интерфейса видны без горизонтальной прокрутки.</a:t>
            </a:r>
            <a:endParaRPr/>
          </a:p>
        </p:txBody>
      </p:sp>
      <p:pic>
        <p:nvPicPr>
          <p:cNvPr id="109" name="Google Shape;109;p21"/>
          <p:cNvPicPr preferRelativeResize="0"/>
          <p:nvPr/>
        </p:nvPicPr>
        <p:blipFill>
          <a:blip r:embed="rId3">
            <a:alphaModFix/>
          </a:blip>
          <a:stretch>
            <a:fillRect/>
          </a:stretch>
        </p:blipFill>
        <p:spPr>
          <a:xfrm>
            <a:off x="311700" y="1152475"/>
            <a:ext cx="3667451" cy="1848750"/>
          </a:xfrm>
          <a:prstGeom prst="rect">
            <a:avLst/>
          </a:prstGeom>
          <a:noFill/>
          <a:ln>
            <a:noFill/>
          </a:ln>
        </p:spPr>
      </p:pic>
      <p:pic>
        <p:nvPicPr>
          <p:cNvPr id="110" name="Google Shape;110;p21"/>
          <p:cNvPicPr preferRelativeResize="0"/>
          <p:nvPr/>
        </p:nvPicPr>
        <p:blipFill>
          <a:blip r:embed="rId4">
            <a:alphaModFix/>
          </a:blip>
          <a:stretch>
            <a:fillRect/>
          </a:stretch>
        </p:blipFill>
        <p:spPr>
          <a:xfrm>
            <a:off x="4473572" y="1152475"/>
            <a:ext cx="4417926" cy="1848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ru"/>
              <a:t>Тестирование</a:t>
            </a:r>
            <a:endParaRPr/>
          </a:p>
        </p:txBody>
      </p:sp>
      <p:sp>
        <p:nvSpPr>
          <p:cNvPr id="116" name="Google Shape;116;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r>
              <a:rPr lang="ru"/>
              <a:t>При вводе суммы 5000, комментария «Зарплата» и выборе категории «Зарплата» после нажатия кнопки «Добавить доход» баланс увеличился с 0.00 ₽ до 5000.00 ₽. В истории операций появилась запись: тип «Доход», категория «Зарплата», сумма 5000.00 ₽, комментарий «Зарплата», указана текущая дата и время. Программа показала сообщение об успешном добавлении.</a:t>
            </a:r>
            <a:endParaRPr/>
          </a:p>
        </p:txBody>
      </p:sp>
      <p:pic>
        <p:nvPicPr>
          <p:cNvPr id="117" name="Google Shape;117;p22"/>
          <p:cNvPicPr preferRelativeResize="0"/>
          <p:nvPr/>
        </p:nvPicPr>
        <p:blipFill>
          <a:blip r:embed="rId3">
            <a:alphaModFix/>
          </a:blip>
          <a:stretch>
            <a:fillRect/>
          </a:stretch>
        </p:blipFill>
        <p:spPr>
          <a:xfrm>
            <a:off x="311700" y="1152477"/>
            <a:ext cx="4848150" cy="19030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ru"/>
              <a:t>Тестирование</a:t>
            </a:r>
            <a:endParaRPr/>
          </a:p>
        </p:txBody>
      </p:sp>
      <p:sp>
        <p:nvSpPr>
          <p:cNvPr id="123" name="Google Shape;123;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r>
              <a:rPr lang="ru"/>
              <a:t>После добавления расхода на сумму 350 рублей с категорией «Еда» и комментарием «Обед» баланс уменьшился с 5000.00 ₽ до 4650.00 ₽. В таблице истории добавилась запись с типом «Расход», категорией «Еда», суммой 350.00 ₽. Остальные предыдущие записи сохранились.</a:t>
            </a:r>
            <a:endParaRPr/>
          </a:p>
        </p:txBody>
      </p:sp>
      <p:pic>
        <p:nvPicPr>
          <p:cNvPr id="124" name="Google Shape;124;p23"/>
          <p:cNvPicPr preferRelativeResize="0"/>
          <p:nvPr/>
        </p:nvPicPr>
        <p:blipFill>
          <a:blip r:embed="rId3">
            <a:alphaModFix/>
          </a:blip>
          <a:stretch>
            <a:fillRect/>
          </a:stretch>
        </p:blipFill>
        <p:spPr>
          <a:xfrm>
            <a:off x="311700" y="1152469"/>
            <a:ext cx="4076125" cy="1608050"/>
          </a:xfrm>
          <a:prstGeom prst="rect">
            <a:avLst/>
          </a:prstGeom>
          <a:noFill/>
          <a:ln>
            <a:noFill/>
          </a:ln>
        </p:spPr>
      </p:pic>
      <p:pic>
        <p:nvPicPr>
          <p:cNvPr id="125" name="Google Shape;125;p23"/>
          <p:cNvPicPr preferRelativeResize="0"/>
          <p:nvPr/>
        </p:nvPicPr>
        <p:blipFill>
          <a:blip r:embed="rId4">
            <a:alphaModFix/>
          </a:blip>
          <a:stretch>
            <a:fillRect/>
          </a:stretch>
        </p:blipFill>
        <p:spPr>
          <a:xfrm>
            <a:off x="4696663" y="1152475"/>
            <a:ext cx="3725513" cy="1608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ru"/>
              <a:t>Тестирование</a:t>
            </a:r>
            <a:endParaRPr/>
          </a:p>
        </p:txBody>
      </p:sp>
      <p:sp>
        <p:nvSpPr>
          <p:cNvPr id="131" name="Google Shape;131;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32" name="Google Shape;132;p24"/>
          <p:cNvPicPr preferRelativeResize="0"/>
          <p:nvPr/>
        </p:nvPicPr>
        <p:blipFill>
          <a:blip r:embed="rId3">
            <a:alphaModFix/>
          </a:blip>
          <a:stretch>
            <a:fillRect/>
          </a:stretch>
        </p:blipFill>
        <p:spPr>
          <a:xfrm>
            <a:off x="311700" y="1152474"/>
            <a:ext cx="4532049" cy="1872150"/>
          </a:xfrm>
          <a:prstGeom prst="rect">
            <a:avLst/>
          </a:prstGeom>
          <a:noFill/>
          <a:ln>
            <a:noFill/>
          </a:ln>
        </p:spPr>
      </p:pic>
      <p:pic>
        <p:nvPicPr>
          <p:cNvPr id="133" name="Google Shape;133;p24"/>
          <p:cNvPicPr preferRelativeResize="0"/>
          <p:nvPr/>
        </p:nvPicPr>
        <p:blipFill>
          <a:blip r:embed="rId4">
            <a:alphaModFix/>
          </a:blip>
          <a:stretch>
            <a:fillRect/>
          </a:stretch>
        </p:blipFill>
        <p:spPr>
          <a:xfrm>
            <a:off x="4568155" y="1152475"/>
            <a:ext cx="4264144" cy="1872150"/>
          </a:xfrm>
          <a:prstGeom prst="rect">
            <a:avLst/>
          </a:prstGeom>
          <a:noFill/>
          <a:ln>
            <a:noFill/>
          </a:ln>
        </p:spPr>
      </p:pic>
      <p:pic>
        <p:nvPicPr>
          <p:cNvPr id="134" name="Google Shape;134;p24"/>
          <p:cNvPicPr preferRelativeResize="0"/>
          <p:nvPr/>
        </p:nvPicPr>
        <p:blipFill>
          <a:blip r:embed="rId5">
            <a:alphaModFix/>
          </a:blip>
          <a:stretch>
            <a:fillRect/>
          </a:stretch>
        </p:blipFill>
        <p:spPr>
          <a:xfrm>
            <a:off x="315683" y="3024627"/>
            <a:ext cx="4524091" cy="1872149"/>
          </a:xfrm>
          <a:prstGeom prst="rect">
            <a:avLst/>
          </a:prstGeom>
          <a:noFill/>
          <a:ln>
            <a:noFill/>
          </a:ln>
        </p:spPr>
      </p:pic>
      <p:sp>
        <p:nvSpPr>
          <p:cNvPr id="135" name="Google Shape;135;p24"/>
          <p:cNvSpPr txBox="1"/>
          <p:nvPr/>
        </p:nvSpPr>
        <p:spPr>
          <a:xfrm>
            <a:off x="4891600" y="3159375"/>
            <a:ext cx="4127700" cy="188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ru" sz="1800">
                <a:solidFill>
                  <a:schemeClr val="accent3"/>
                </a:solidFill>
                <a:latin typeface="Average"/>
                <a:ea typeface="Average"/>
                <a:cs typeface="Average"/>
                <a:sym typeface="Average"/>
              </a:rPr>
              <a:t>П</a:t>
            </a:r>
            <a:r>
              <a:rPr lang="ru" sz="1500">
                <a:solidFill>
                  <a:schemeClr val="accent3"/>
                </a:solidFill>
                <a:latin typeface="Average"/>
                <a:ea typeface="Average"/>
                <a:cs typeface="Average"/>
                <a:sym typeface="Average"/>
              </a:rPr>
              <a:t>ри попытке добавить доход с суммой −100 программа выдала сообщение «Пожалуйста, введите корректную сумму! Сумма должна быть положительной» и не изменила баланс. Аналогичное поведение наблюдается при вводе нуля и текстовых значений. Некорректные операции не добавляются в историю.</a:t>
            </a:r>
            <a:endParaRPr sz="1500">
              <a:solidFill>
                <a:schemeClr val="accent3"/>
              </a:solidFill>
              <a:latin typeface="Average"/>
              <a:ea typeface="Average"/>
              <a:cs typeface="Average"/>
              <a:sym typeface="Averag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ru"/>
              <a:t>Тестирование</a:t>
            </a:r>
            <a:endParaRPr/>
          </a:p>
        </p:txBody>
      </p:sp>
      <p:sp>
        <p:nvSpPr>
          <p:cNvPr id="141" name="Google Shape;141;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r>
              <a:rPr lang="ru"/>
              <a:t>После добавления нескольких операций, закрытия и повторного запуска приложения баланс восстановился, а история операций полностью сохранилась. Данные хранятся локально в файле budget.db (SQLite), интернет не требуется.</a:t>
            </a:r>
            <a:endParaRPr/>
          </a:p>
        </p:txBody>
      </p:sp>
      <p:pic>
        <p:nvPicPr>
          <p:cNvPr id="142" name="Google Shape;142;p25"/>
          <p:cNvPicPr preferRelativeResize="0"/>
          <p:nvPr/>
        </p:nvPicPr>
        <p:blipFill>
          <a:blip r:embed="rId3">
            <a:alphaModFix/>
          </a:blip>
          <a:stretch>
            <a:fillRect/>
          </a:stretch>
        </p:blipFill>
        <p:spPr>
          <a:xfrm>
            <a:off x="311700" y="1152470"/>
            <a:ext cx="4091749" cy="1865950"/>
          </a:xfrm>
          <a:prstGeom prst="rect">
            <a:avLst/>
          </a:prstGeom>
          <a:noFill/>
          <a:ln>
            <a:noFill/>
          </a:ln>
        </p:spPr>
      </p:pic>
      <p:pic>
        <p:nvPicPr>
          <p:cNvPr id="143" name="Google Shape;143;p25"/>
          <p:cNvPicPr preferRelativeResize="0"/>
          <p:nvPr/>
        </p:nvPicPr>
        <p:blipFill>
          <a:blip r:embed="rId4">
            <a:alphaModFix/>
          </a:blip>
          <a:stretch>
            <a:fillRect/>
          </a:stretch>
        </p:blipFill>
        <p:spPr>
          <a:xfrm>
            <a:off x="4817228" y="1152475"/>
            <a:ext cx="4015070" cy="1865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ru"/>
              <a:t>Тестирование</a:t>
            </a:r>
            <a:endParaRPr/>
          </a:p>
        </p:txBody>
      </p:sp>
      <p:sp>
        <p:nvSpPr>
          <p:cNvPr id="149" name="Google Shape;149;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r>
              <a:rPr lang="ru"/>
              <a:t>Приложение имеет минимальный размер окна 800×600 пикселей. При уменьшении окна до этого размера все элементы интерфейса остаются видимыми, горизонтальная прокрутка не требуется. </a:t>
            </a:r>
            <a:endParaRPr/>
          </a:p>
        </p:txBody>
      </p:sp>
      <p:pic>
        <p:nvPicPr>
          <p:cNvPr id="150" name="Google Shape;150;p26"/>
          <p:cNvPicPr preferRelativeResize="0"/>
          <p:nvPr/>
        </p:nvPicPr>
        <p:blipFill>
          <a:blip r:embed="rId3">
            <a:alphaModFix/>
          </a:blip>
          <a:stretch>
            <a:fillRect/>
          </a:stretch>
        </p:blipFill>
        <p:spPr>
          <a:xfrm>
            <a:off x="311700" y="1152475"/>
            <a:ext cx="3939676" cy="2493076"/>
          </a:xfrm>
          <a:prstGeom prst="rect">
            <a:avLst/>
          </a:prstGeom>
          <a:noFill/>
          <a:ln>
            <a:noFill/>
          </a:ln>
        </p:spPr>
      </p:pic>
      <p:pic>
        <p:nvPicPr>
          <p:cNvPr id="151" name="Google Shape;151;p26"/>
          <p:cNvPicPr preferRelativeResize="0"/>
          <p:nvPr/>
        </p:nvPicPr>
        <p:blipFill>
          <a:blip r:embed="rId4">
            <a:alphaModFix/>
          </a:blip>
          <a:stretch>
            <a:fillRect/>
          </a:stretch>
        </p:blipFill>
        <p:spPr>
          <a:xfrm>
            <a:off x="5558126" y="1152475"/>
            <a:ext cx="3274175" cy="2546001"/>
          </a:xfrm>
          <a:prstGeom prst="rect">
            <a:avLst/>
          </a:prstGeom>
          <a:noFill/>
          <a:ln>
            <a:noFill/>
          </a:ln>
        </p:spPr>
      </p:pic>
    </p:spTree>
  </p:cSld>
  <p:clrMapOvr>
    <a:masterClrMapping/>
  </p:clrMapOvr>
</p:sld>
</file>

<file path=ppt/theme/theme1.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824</Words>
  <Application>Microsoft Office PowerPoint</Application>
  <PresentationFormat>Экран (16:9)</PresentationFormat>
  <Paragraphs>81</Paragraphs>
  <Slides>14</Slides>
  <Notes>14</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14</vt:i4>
      </vt:variant>
    </vt:vector>
  </HeadingPairs>
  <TitlesOfParts>
    <vt:vector size="19" baseType="lpstr">
      <vt:lpstr>Arial</vt:lpstr>
      <vt:lpstr>Oswald</vt:lpstr>
      <vt:lpstr>Average</vt:lpstr>
      <vt:lpstr>Times New Roman</vt:lpstr>
      <vt:lpstr>Slate</vt:lpstr>
      <vt:lpstr>Мой бюджет: учет доходов и расходов</vt:lpstr>
      <vt:lpstr>Название проекта</vt:lpstr>
      <vt:lpstr>Цель и актуальность</vt:lpstr>
      <vt:lpstr>Задачи проекта</vt:lpstr>
      <vt:lpstr>Функциональные требования</vt:lpstr>
      <vt:lpstr>Нефункциональные требования</vt:lpstr>
      <vt:lpstr>Используемые технологии</vt:lpstr>
      <vt:lpstr>Перспективы развития</vt:lpstr>
      <vt:lpstr>Тестирование</vt:lpstr>
      <vt:lpstr>Тестирование</vt:lpstr>
      <vt:lpstr>Тестирование</vt:lpstr>
      <vt:lpstr>Тестирование</vt:lpstr>
      <vt:lpstr>Тестирование</vt:lpstr>
      <vt:lpstr>Тестирование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Алена Попова</dc:creator>
  <cp:lastModifiedBy>Алена Попова</cp:lastModifiedBy>
  <cp:revision>2</cp:revision>
  <dcterms:modified xsi:type="dcterms:W3CDTF">2026-05-07T00:16:33Z</dcterms:modified>
</cp:coreProperties>
</file>